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76" r:id="rId7"/>
    <p:sldId id="261" r:id="rId8"/>
    <p:sldId id="262" r:id="rId9"/>
    <p:sldId id="263" r:id="rId10"/>
    <p:sldId id="277" r:id="rId11"/>
    <p:sldId id="272" r:id="rId12"/>
    <p:sldId id="274" r:id="rId13"/>
  </p:sldIdLst>
  <p:sldSz cx="18288000" cy="10287000"/>
  <p:notesSz cx="6858000" cy="9144000"/>
  <p:embeddedFontLst>
    <p:embeddedFont>
      <p:font typeface="Open Sans" panose="020F0502020204030204" pitchFamily="34" charset="0"/>
      <p:bold r:id="rId15"/>
      <p:boldItalic r:id="rId16"/>
    </p:embeddedFont>
    <p:embeddedFont>
      <p:font typeface="Russo One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2A0BD9-8DD9-46A5-A8BF-EEF49FD97A48}" v="42" dt="2025-12-19T05:48:36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ly manikuttan" userId="bc743a4b65c6e083" providerId="LiveId" clId="{09B18A78-0A5A-42A5-910D-1F33501524AA}"/>
    <pc:docChg chg="undo custSel modSld">
      <pc:chgData name="anjaly manikuttan" userId="bc743a4b65c6e083" providerId="LiveId" clId="{09B18A78-0A5A-42A5-910D-1F33501524AA}" dt="2025-12-19T08:37:13.869" v="477" actId="1076"/>
      <pc:docMkLst>
        <pc:docMk/>
      </pc:docMkLst>
      <pc:sldChg chg="modSp mod">
        <pc:chgData name="anjaly manikuttan" userId="bc743a4b65c6e083" providerId="LiveId" clId="{09B18A78-0A5A-42A5-910D-1F33501524AA}" dt="2025-12-19T08:37:13.869" v="477" actId="1076"/>
        <pc:sldMkLst>
          <pc:docMk/>
          <pc:sldMk cId="0" sldId="256"/>
        </pc:sldMkLst>
        <pc:picChg chg="mod">
          <ac:chgData name="anjaly manikuttan" userId="bc743a4b65c6e083" providerId="LiveId" clId="{09B18A78-0A5A-42A5-910D-1F33501524AA}" dt="2025-12-19T08:37:13.869" v="477" actId="1076"/>
          <ac:picMkLst>
            <pc:docMk/>
            <pc:sldMk cId="0" sldId="256"/>
            <ac:picMk id="106" creationId="{00000000-0000-0000-0000-000000000000}"/>
          </ac:picMkLst>
        </pc:picChg>
      </pc:sldChg>
      <pc:sldChg chg="addSp delSp modSp mod">
        <pc:chgData name="anjaly manikuttan" userId="bc743a4b65c6e083" providerId="LiveId" clId="{09B18A78-0A5A-42A5-910D-1F33501524AA}" dt="2025-12-16T09:54:36.466" v="89" actId="9"/>
        <pc:sldMkLst>
          <pc:docMk/>
          <pc:sldMk cId="0" sldId="258"/>
        </pc:sldMkLst>
        <pc:spChg chg="add mod">
          <ac:chgData name="anjaly manikuttan" userId="bc743a4b65c6e083" providerId="LiveId" clId="{09B18A78-0A5A-42A5-910D-1F33501524AA}" dt="2025-12-16T09:54:36.466" v="89" actId="9"/>
          <ac:spMkLst>
            <pc:docMk/>
            <pc:sldMk cId="0" sldId="258"/>
            <ac:spMk id="5" creationId="{6A3371E1-A929-BFF2-2120-CA052649E71C}"/>
          </ac:spMkLst>
        </pc:spChg>
        <pc:picChg chg="mod">
          <ac:chgData name="anjaly manikuttan" userId="bc743a4b65c6e083" providerId="LiveId" clId="{09B18A78-0A5A-42A5-910D-1F33501524AA}" dt="2025-12-16T09:52:33.824" v="86" actId="14100"/>
          <ac:picMkLst>
            <pc:docMk/>
            <pc:sldMk cId="0" sldId="258"/>
            <ac:picMk id="162" creationId="{00000000-0000-0000-0000-000000000000}"/>
          </ac:picMkLst>
        </pc:picChg>
      </pc:sldChg>
      <pc:sldChg chg="modSp mod">
        <pc:chgData name="anjaly manikuttan" userId="bc743a4b65c6e083" providerId="LiveId" clId="{09B18A78-0A5A-42A5-910D-1F33501524AA}" dt="2025-12-19T08:13:50.172" v="473" actId="20577"/>
        <pc:sldMkLst>
          <pc:docMk/>
          <pc:sldMk cId="0" sldId="261"/>
        </pc:sldMkLst>
        <pc:spChg chg="mod">
          <ac:chgData name="anjaly manikuttan" userId="bc743a4b65c6e083" providerId="LiveId" clId="{09B18A78-0A5A-42A5-910D-1F33501524AA}" dt="2025-12-19T08:13:50.172" v="473" actId="20577"/>
          <ac:spMkLst>
            <pc:docMk/>
            <pc:sldMk cId="0" sldId="261"/>
            <ac:spMk id="9" creationId="{750834BA-25EF-8557-5E88-139EA690458C}"/>
          </ac:spMkLst>
        </pc:spChg>
      </pc:sldChg>
      <pc:sldChg chg="modSp mod">
        <pc:chgData name="anjaly manikuttan" userId="bc743a4b65c6e083" providerId="LiveId" clId="{09B18A78-0A5A-42A5-910D-1F33501524AA}" dt="2025-12-18T12:51:40.434" v="112" actId="12"/>
        <pc:sldMkLst>
          <pc:docMk/>
          <pc:sldMk cId="0" sldId="262"/>
        </pc:sldMkLst>
        <pc:spChg chg="mod">
          <ac:chgData name="anjaly manikuttan" userId="bc743a4b65c6e083" providerId="LiveId" clId="{09B18A78-0A5A-42A5-910D-1F33501524AA}" dt="2025-12-18T12:51:40.434" v="112" actId="12"/>
          <ac:spMkLst>
            <pc:docMk/>
            <pc:sldMk cId="0" sldId="262"/>
            <ac:spMk id="256" creationId="{00000000-0000-0000-0000-000000000000}"/>
          </ac:spMkLst>
        </pc:spChg>
      </pc:sldChg>
      <pc:sldChg chg="addSp modSp mod">
        <pc:chgData name="anjaly manikuttan" userId="bc743a4b65c6e083" providerId="LiveId" clId="{09B18A78-0A5A-42A5-910D-1F33501524AA}" dt="2025-12-19T08:15:49.766" v="476" actId="20577"/>
        <pc:sldMkLst>
          <pc:docMk/>
          <pc:sldMk cId="0" sldId="272"/>
        </pc:sldMkLst>
        <pc:spChg chg="mod">
          <ac:chgData name="anjaly manikuttan" userId="bc743a4b65c6e083" providerId="LiveId" clId="{09B18A78-0A5A-42A5-910D-1F33501524AA}" dt="2025-12-19T08:15:49.766" v="476" actId="20577"/>
          <ac:spMkLst>
            <pc:docMk/>
            <pc:sldMk cId="0" sldId="272"/>
            <ac:spMk id="2" creationId="{77B22192-06A8-8569-3CDF-28614742C48A}"/>
          </ac:spMkLst>
        </pc:spChg>
        <pc:spChg chg="add">
          <ac:chgData name="anjaly manikuttan" userId="bc743a4b65c6e083" providerId="LiveId" clId="{09B18A78-0A5A-42A5-910D-1F33501524AA}" dt="2025-12-18T12:54:29.412" v="116"/>
          <ac:spMkLst>
            <pc:docMk/>
            <pc:sldMk cId="0" sldId="272"/>
            <ac:spMk id="3" creationId="{99A2D9F5-9607-CA6E-3966-71E6CB99E048}"/>
          </ac:spMkLst>
        </pc:spChg>
        <pc:spChg chg="add">
          <ac:chgData name="anjaly manikuttan" userId="bc743a4b65c6e083" providerId="LiveId" clId="{09B18A78-0A5A-42A5-910D-1F33501524AA}" dt="2025-12-18T12:54:52.204" v="404"/>
          <ac:spMkLst>
            <pc:docMk/>
            <pc:sldMk cId="0" sldId="272"/>
            <ac:spMk id="4" creationId="{5AA0FF81-A3F5-AA5B-7460-5DAFAEAE13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2BCB2DE-9731-B0EC-98CC-08926EBA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>
            <a:extLst>
              <a:ext uri="{FF2B5EF4-FFF2-40B4-BE49-F238E27FC236}">
                <a16:creationId xmlns:a16="http://schemas.microsoft.com/office/drawing/2014/main" id="{FBCF4F95-7F0A-1928-F08C-5046DCEFD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:notes">
            <a:extLst>
              <a:ext uri="{FF2B5EF4-FFF2-40B4-BE49-F238E27FC236}">
                <a16:creationId xmlns:a16="http://schemas.microsoft.com/office/drawing/2014/main" id="{F2531D35-D323-0C10-4C8B-550DA1D0A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067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F146400-065F-8768-234D-3B5082DB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E89D4697-4FF1-ED91-4556-514F0AA78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E17E0CCE-90A0-D0A5-40B1-19228749F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14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1879300" y="51566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1" name="Google Shape;1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Google Shape;13;p3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70875" y="-3150875"/>
            <a:ext cx="28688051" cy="286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1565550" y="4336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Google Shape;24;p4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0074" y="-4409076"/>
            <a:ext cx="28184550" cy="28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879288" y="6559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Google Shape;35;p5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8950" y="-2310825"/>
            <a:ext cx="20102175" cy="20320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2333350" y="5034975"/>
            <a:ext cx="6165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730922" y="5034975"/>
            <a:ext cx="6165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7" name="Google Shape;47;p6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2207625" y="4468500"/>
            <a:ext cx="57864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8205511" y="4468500"/>
            <a:ext cx="5788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8" name="Google Shape;58;p7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59" name="Google Shape;59;p7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61" name="Google Shape;61;p7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62" name="Google Shape;62;p7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6125" y="5358673"/>
            <a:ext cx="8614049" cy="8303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8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71" name="Google Shape;71;p8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72" name="Google Shape;72;p8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31575" y="6301500"/>
            <a:ext cx="8625637" cy="82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7954175" y="4468500"/>
            <a:ext cx="65619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2"/>
          </p:nvPr>
        </p:nvSpPr>
        <p:spPr>
          <a:xfrm>
            <a:off x="1700600" y="4468500"/>
            <a:ext cx="61152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p9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82" name="Google Shape;82;p9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83" name="Google Shape;83;p9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84" name="Google Shape;84;p9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6" name="Google Shape;8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8550" y="5358678"/>
            <a:ext cx="8483351" cy="806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60775" y="-3402775"/>
            <a:ext cx="26150651" cy="261506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>
            <a:spLocks noGrp="1"/>
          </p:cNvSpPr>
          <p:nvPr>
            <p:ph type="pic" idx="2"/>
          </p:nvPr>
        </p:nvSpPr>
        <p:spPr>
          <a:xfrm>
            <a:off x="9830651" y="4158050"/>
            <a:ext cx="6267600" cy="47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1503613" y="47410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29475" y="-4611125"/>
            <a:ext cx="10068601" cy="97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/>
          <p:nvPr/>
        </p:nvSpPr>
        <p:spPr>
          <a:xfrm>
            <a:off x="1259565" y="572753"/>
            <a:ext cx="441042" cy="441042"/>
          </a:xfrm>
          <a:custGeom>
            <a:avLst/>
            <a:gdLst/>
            <a:ahLst/>
            <a:cxnLst/>
            <a:rect l="l" t="t" r="r" b="b"/>
            <a:pathLst>
              <a:path w="441042" h="441042" extrusionOk="0">
                <a:moveTo>
                  <a:pt x="0" y="0"/>
                </a:moveTo>
                <a:lnTo>
                  <a:pt x="441042" y="0"/>
                </a:lnTo>
                <a:lnTo>
                  <a:pt x="441042" y="441042"/>
                </a:lnTo>
                <a:lnTo>
                  <a:pt x="0" y="441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3" name="Google Shape;93;p10"/>
          <p:cNvSpPr txBox="1"/>
          <p:nvPr/>
        </p:nvSpPr>
        <p:spPr>
          <a:xfrm>
            <a:off x="13994297" y="563150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16357926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95" name="Google Shape;95;p10"/>
          <p:cNvSpPr txBox="1"/>
          <p:nvPr/>
        </p:nvSpPr>
        <p:spPr>
          <a:xfrm>
            <a:off x="11713282" y="563150"/>
            <a:ext cx="108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9506628" y="563143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1879302" y="650400"/>
            <a:ext cx="7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2947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95400" y="2103450"/>
            <a:ext cx="1207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D2947"/>
              </a:buClr>
              <a:buSzPts val="7000"/>
              <a:buFont typeface="Russo One"/>
              <a:buNone/>
              <a:defRPr sz="7000" i="0" u="none" strike="noStrike" cap="none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43999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–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–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»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sso One"/>
              <a:buChar char="•"/>
              <a:defRPr sz="240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4831" y="1132104"/>
            <a:ext cx="7819976" cy="8462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1"/>
          <p:cNvGrpSpPr/>
          <p:nvPr/>
        </p:nvGrpSpPr>
        <p:grpSpPr>
          <a:xfrm>
            <a:off x="16380841" y="2431178"/>
            <a:ext cx="427770" cy="331779"/>
            <a:chOff x="0" y="-28575"/>
            <a:chExt cx="112664" cy="87382"/>
          </a:xfrm>
        </p:grpSpPr>
        <p:sp>
          <p:nvSpPr>
            <p:cNvPr id="113" name="Google Shape;113;p11"/>
            <p:cNvSpPr/>
            <p:nvPr/>
          </p:nvSpPr>
          <p:spPr>
            <a:xfrm>
              <a:off x="0" y="0"/>
              <a:ext cx="112664" cy="58807"/>
            </a:xfrm>
            <a:custGeom>
              <a:avLst/>
              <a:gdLst/>
              <a:ahLst/>
              <a:cxnLst/>
              <a:rect l="l" t="t" r="r" b="b"/>
              <a:pathLst>
                <a:path w="112664" h="58807" extrusionOk="0">
                  <a:moveTo>
                    <a:pt x="0" y="0"/>
                  </a:moveTo>
                  <a:lnTo>
                    <a:pt x="112664" y="0"/>
                  </a:lnTo>
                  <a:lnTo>
                    <a:pt x="112664" y="58807"/>
                  </a:lnTo>
                  <a:lnTo>
                    <a:pt x="0" y="588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Google Shape;114;p11"/>
            <p:cNvSpPr txBox="1"/>
            <p:nvPr/>
          </p:nvSpPr>
          <p:spPr>
            <a:xfrm>
              <a:off x="0" y="-28575"/>
              <a:ext cx="112664" cy="87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7140922" y="3150592"/>
            <a:ext cx="427770" cy="331779"/>
            <a:chOff x="0" y="-28575"/>
            <a:chExt cx="112664" cy="87382"/>
          </a:xfrm>
        </p:grpSpPr>
        <p:sp>
          <p:nvSpPr>
            <p:cNvPr id="116" name="Google Shape;116;p11"/>
            <p:cNvSpPr/>
            <p:nvPr/>
          </p:nvSpPr>
          <p:spPr>
            <a:xfrm>
              <a:off x="0" y="0"/>
              <a:ext cx="112664" cy="58807"/>
            </a:xfrm>
            <a:custGeom>
              <a:avLst/>
              <a:gdLst/>
              <a:ahLst/>
              <a:cxnLst/>
              <a:rect l="l" t="t" r="r" b="b"/>
              <a:pathLst>
                <a:path w="112664" h="58807" extrusionOk="0">
                  <a:moveTo>
                    <a:pt x="0" y="0"/>
                  </a:moveTo>
                  <a:lnTo>
                    <a:pt x="112664" y="0"/>
                  </a:lnTo>
                  <a:lnTo>
                    <a:pt x="112664" y="58807"/>
                  </a:lnTo>
                  <a:lnTo>
                    <a:pt x="0" y="588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Google Shape;117;p11"/>
            <p:cNvSpPr txBox="1"/>
            <p:nvPr/>
          </p:nvSpPr>
          <p:spPr>
            <a:xfrm>
              <a:off x="0" y="-28575"/>
              <a:ext cx="112664" cy="87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1"/>
          <p:cNvSpPr txBox="1"/>
          <p:nvPr/>
        </p:nvSpPr>
        <p:spPr>
          <a:xfrm>
            <a:off x="1070874" y="6157300"/>
            <a:ext cx="74577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33252B"/>
                </a:solidFill>
                <a:latin typeface="Open Sans"/>
                <a:ea typeface="Open Sans"/>
                <a:cs typeface="Open Sans"/>
                <a:sym typeface="Open Sans"/>
              </a:rPr>
              <a:t>Submitted by</a:t>
            </a:r>
            <a:r>
              <a:rPr lang="en-US" sz="2600" dirty="0">
                <a:solidFill>
                  <a:srgbClr val="33252B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33252B"/>
                </a:solidFill>
                <a:latin typeface="Open Sans"/>
                <a:ea typeface="Open Sans"/>
                <a:cs typeface="Open Sans"/>
                <a:sym typeface="Open Sans"/>
              </a:rPr>
              <a:t>Anjaly manikuttan</a:t>
            </a:r>
            <a:endParaRPr sz="2600" dirty="0"/>
          </a:p>
        </p:txBody>
      </p:sp>
      <p:sp>
        <p:nvSpPr>
          <p:cNvPr id="124" name="Google Shape;124;p11"/>
          <p:cNvSpPr txBox="1"/>
          <p:nvPr/>
        </p:nvSpPr>
        <p:spPr>
          <a:xfrm>
            <a:off x="1480086" y="7161004"/>
            <a:ext cx="2811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PRESENTATION</a:t>
            </a:r>
            <a:endParaRPr/>
          </a:p>
        </p:txBody>
      </p:sp>
      <p:pic>
        <p:nvPicPr>
          <p:cNvPr id="125" name="Google Shape;12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9313" y="7353304"/>
            <a:ext cx="1271528" cy="175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B5F0F6-F25E-BCAC-9FB9-A59AE39D66C2}"/>
              </a:ext>
            </a:extLst>
          </p:cNvPr>
          <p:cNvSpPr txBox="1"/>
          <p:nvPr/>
        </p:nvSpPr>
        <p:spPr>
          <a:xfrm>
            <a:off x="545910" y="3004297"/>
            <a:ext cx="6985171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670" b="1" dirty="0">
                <a:solidFill>
                  <a:srgbClr val="C00000"/>
                </a:solidFill>
                <a:latin typeface="Russo One" panose="020B0604020202020204" charset="0"/>
              </a:rPr>
              <a:t>PROJECT </a:t>
            </a:r>
            <a:r>
              <a:rPr lang="en-IN" sz="5670" b="1" dirty="0">
                <a:solidFill>
                  <a:schemeClr val="tx1"/>
                </a:solidFill>
                <a:latin typeface="Russo One" panose="020B0604020202020204" charset="0"/>
              </a:rPr>
              <a:t>RISK</a:t>
            </a:r>
            <a:r>
              <a:rPr lang="en-IN" sz="5670" b="1" dirty="0">
                <a:solidFill>
                  <a:srgbClr val="C00000"/>
                </a:solidFill>
                <a:latin typeface="Russo One" panose="020B0604020202020204" charset="0"/>
              </a:rPr>
              <a:t> </a:t>
            </a:r>
          </a:p>
          <a:p>
            <a:r>
              <a:rPr lang="en-IN" sz="5670" b="1" dirty="0">
                <a:latin typeface="Russo One" panose="020B0604020202020204" charset="0"/>
              </a:rPr>
              <a:t>PREDICTOR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2B360F-3B0D-7BBB-DA7D-541CB627E202}"/>
              </a:ext>
            </a:extLst>
          </p:cNvPr>
          <p:cNvCxnSpPr/>
          <p:nvPr/>
        </p:nvCxnSpPr>
        <p:spPr>
          <a:xfrm>
            <a:off x="545910" y="5363570"/>
            <a:ext cx="59367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4982" y="477673"/>
            <a:ext cx="9341550" cy="980932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1480086" y="1360672"/>
            <a:ext cx="5870216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Introduction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371E1-A929-BFF2-2120-CA052649E71C}"/>
              </a:ext>
            </a:extLst>
          </p:cNvPr>
          <p:cNvSpPr txBox="1"/>
          <p:nvPr/>
        </p:nvSpPr>
        <p:spPr>
          <a:xfrm>
            <a:off x="1624083" y="3043450"/>
            <a:ext cx="6451465" cy="61178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project focuses on predicting project risk levels using machine learning classification techniques.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dataset includes various project attributes such as resources, timelines, budget factors, and other key features.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Each project is classified into one of three risk categories: </a:t>
            </a:r>
            <a:r>
              <a:rPr lang="en-US" sz="2400" b="1" dirty="0"/>
              <a:t>Low</a:t>
            </a:r>
            <a:r>
              <a:rPr lang="en-US" sz="2400" dirty="0"/>
              <a:t>, </a:t>
            </a:r>
            <a:r>
              <a:rPr lang="en-US" sz="2400" b="1" dirty="0"/>
              <a:t>Medium</a:t>
            </a:r>
            <a:r>
              <a:rPr lang="en-US" sz="2400" dirty="0"/>
              <a:t>, or </a:t>
            </a:r>
            <a:r>
              <a:rPr lang="en-US" sz="2400" b="1" dirty="0"/>
              <a:t>High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model helps identify potential risks early, supporting better planning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182" y="2025367"/>
            <a:ext cx="4697900" cy="58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 txBox="1"/>
          <p:nvPr/>
        </p:nvSpPr>
        <p:spPr>
          <a:xfrm>
            <a:off x="851278" y="1081878"/>
            <a:ext cx="1489823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0" b="1" dirty="0">
                <a:solidFill>
                  <a:schemeClr val="accent2"/>
                </a:solidFill>
                <a:latin typeface="Russo One" panose="020B0604020202020204" charset="0"/>
              </a:rPr>
              <a:t>PROJECT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21322-2BFE-5895-90C7-DF56990AE4AF}"/>
              </a:ext>
            </a:extLst>
          </p:cNvPr>
          <p:cNvSpPr txBox="1"/>
          <p:nvPr/>
        </p:nvSpPr>
        <p:spPr>
          <a:xfrm>
            <a:off x="851278" y="2511188"/>
            <a:ext cx="16085594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Predict Risk Levels: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Build a machine learning model to classify projects into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Low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Medium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, or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High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risk categories.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Data Analysis: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Explore and analyze the dataset to understand key factors contributing to project risk.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Data Preprocessing: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Handle missing values, encode categorical features, and scale numerical features to prepare the dataset for modeling.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Model Comparison: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Train multiple classification models (e.g., Decision Tree, Random Forest, KNN) and identify the best-performing model.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Decision Support: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Provide a data-driven tool that helps stakeholders identify high-risk projects early and make informed decisions.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b="1" dirty="0"/>
              <a:t>Deployment (Optional):</a:t>
            </a:r>
            <a:r>
              <a:rPr lang="en-US" sz="2400" dirty="0"/>
              <a:t> Implement a simple interface (e.g., Flask web app) to allow users to input project data and receive predicted risk levels.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5253" y="958455"/>
            <a:ext cx="6796585" cy="932854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990180" y="800021"/>
            <a:ext cx="1555732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600" b="1" dirty="0">
                <a:solidFill>
                  <a:schemeClr val="accent2"/>
                </a:solidFill>
                <a:latin typeface="Russo One" panose="020B0604020202020204" charset="0"/>
              </a:rPr>
              <a:t>PROJECT DESCRIPTION</a:t>
            </a:r>
            <a:endParaRPr sz="5600" b="1" dirty="0">
              <a:solidFill>
                <a:schemeClr val="accent2"/>
              </a:solidFill>
              <a:latin typeface="Russo One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2FD72C-2616-280F-C244-5D55A088C20B}"/>
              </a:ext>
            </a:extLst>
          </p:cNvPr>
          <p:cNvSpPr/>
          <p:nvPr/>
        </p:nvSpPr>
        <p:spPr>
          <a:xfrm>
            <a:off x="559559" y="2388652"/>
            <a:ext cx="4053384" cy="802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Project Type</a:t>
            </a:r>
            <a:endParaRPr lang="en-IN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EAE551-F857-4D61-7771-E04DFF0337ED}"/>
              </a:ext>
            </a:extLst>
          </p:cNvPr>
          <p:cNvSpPr/>
          <p:nvPr/>
        </p:nvSpPr>
        <p:spPr>
          <a:xfrm>
            <a:off x="5125676" y="2420221"/>
            <a:ext cx="4018323" cy="802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Stakeholder engagement level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0B64C3-8244-5266-2762-11B2E3B4197B}"/>
              </a:ext>
            </a:extLst>
          </p:cNvPr>
          <p:cNvSpPr/>
          <p:nvPr/>
        </p:nvSpPr>
        <p:spPr>
          <a:xfrm>
            <a:off x="559556" y="3697706"/>
            <a:ext cx="4053383" cy="820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Methodology used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6DE9E1-BBA3-14D8-ABDF-BAC812AF9FB8}"/>
              </a:ext>
            </a:extLst>
          </p:cNvPr>
          <p:cNvSpPr/>
          <p:nvPr/>
        </p:nvSpPr>
        <p:spPr>
          <a:xfrm>
            <a:off x="5124738" y="3754718"/>
            <a:ext cx="4019261" cy="820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Priority Level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E00D08-848E-A182-06C3-3C11CA1D6326}"/>
              </a:ext>
            </a:extLst>
          </p:cNvPr>
          <p:cNvSpPr/>
          <p:nvPr/>
        </p:nvSpPr>
        <p:spPr>
          <a:xfrm>
            <a:off x="5124738" y="8935364"/>
            <a:ext cx="4019260" cy="766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Industry Volatility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0CEDF-B762-CDA6-99A6-1CAF2A2E125C}"/>
              </a:ext>
            </a:extLst>
          </p:cNvPr>
          <p:cNvSpPr/>
          <p:nvPr/>
        </p:nvSpPr>
        <p:spPr>
          <a:xfrm>
            <a:off x="559557" y="5050793"/>
            <a:ext cx="4053383" cy="820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Team experience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57E7B9-3C6A-CB67-25AF-A21620F1A5BC}"/>
              </a:ext>
            </a:extLst>
          </p:cNvPr>
          <p:cNvSpPr/>
          <p:nvPr/>
        </p:nvSpPr>
        <p:spPr>
          <a:xfrm>
            <a:off x="5124738" y="5110947"/>
            <a:ext cx="4019260" cy="820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Project manager Experience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A7748-925E-44ED-E6DF-09FD0D004FAC}"/>
              </a:ext>
            </a:extLst>
          </p:cNvPr>
          <p:cNvSpPr/>
          <p:nvPr/>
        </p:nvSpPr>
        <p:spPr>
          <a:xfrm>
            <a:off x="559556" y="6403880"/>
            <a:ext cx="4053383" cy="766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Project phase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7297DE-7D14-9945-5610-8BE25BA1B13F}"/>
              </a:ext>
            </a:extLst>
          </p:cNvPr>
          <p:cNvSpPr/>
          <p:nvPr/>
        </p:nvSpPr>
        <p:spPr>
          <a:xfrm>
            <a:off x="5124738" y="6403880"/>
            <a:ext cx="4019260" cy="766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 Security Requirements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488EA5-E1A6-EAE0-B6F6-0C3A53C7B22A}"/>
              </a:ext>
            </a:extLst>
          </p:cNvPr>
          <p:cNvSpPr/>
          <p:nvPr/>
        </p:nvSpPr>
        <p:spPr>
          <a:xfrm>
            <a:off x="5124738" y="7696813"/>
            <a:ext cx="4019260" cy="766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Client Experience Level</a:t>
            </a: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9148AA-5E58-C68F-9C64-C96C0C0B7384}"/>
              </a:ext>
            </a:extLst>
          </p:cNvPr>
          <p:cNvSpPr/>
          <p:nvPr/>
        </p:nvSpPr>
        <p:spPr>
          <a:xfrm>
            <a:off x="607886" y="8935363"/>
            <a:ext cx="4005055" cy="802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Technology Familiarity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55AF8B-F4CB-1A3A-EB0E-87E55B0763A4}"/>
              </a:ext>
            </a:extLst>
          </p:cNvPr>
          <p:cNvSpPr/>
          <p:nvPr/>
        </p:nvSpPr>
        <p:spPr>
          <a:xfrm>
            <a:off x="607886" y="7642432"/>
            <a:ext cx="4005055" cy="820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Requirement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/>
        </p:nvSpPr>
        <p:spPr>
          <a:xfrm>
            <a:off x="1001404" y="994365"/>
            <a:ext cx="154032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>
                <a:solidFill>
                  <a:schemeClr val="accent2"/>
                </a:solidFill>
                <a:latin typeface="Russo One" panose="020B0604020202020204" charset="0"/>
              </a:rPr>
              <a:t>TOOLS AND TECHNOLOGIES USED</a:t>
            </a:r>
            <a:endParaRPr sz="5400" dirty="0">
              <a:solidFill>
                <a:schemeClr val="accent2"/>
              </a:solidFill>
              <a:latin typeface="Russo One" panose="020B06040202020202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EB411C-F7F1-935B-630A-399C81CD9FB0}"/>
              </a:ext>
            </a:extLst>
          </p:cNvPr>
          <p:cNvSpPr/>
          <p:nvPr/>
        </p:nvSpPr>
        <p:spPr>
          <a:xfrm>
            <a:off x="1603610" y="2939125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0" dirty="0"/>
              <a:t>Python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44DAF-8197-ADD8-D7B1-72F740028CD3}"/>
              </a:ext>
            </a:extLst>
          </p:cNvPr>
          <p:cNvSpPr/>
          <p:nvPr/>
        </p:nvSpPr>
        <p:spPr>
          <a:xfrm>
            <a:off x="11955438" y="2939124"/>
            <a:ext cx="444917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0" dirty="0"/>
              <a:t>NumPy-Numerical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C6C23-9C9B-B957-AB99-59C71FA4C28E}"/>
              </a:ext>
            </a:extLst>
          </p:cNvPr>
          <p:cNvSpPr/>
          <p:nvPr/>
        </p:nvSpPr>
        <p:spPr>
          <a:xfrm>
            <a:off x="6779524" y="2939125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Pandas-Data cleaning and preprocessing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1AED-7436-11E9-AA7E-643649D16E8A}"/>
              </a:ext>
            </a:extLst>
          </p:cNvPr>
          <p:cNvSpPr/>
          <p:nvPr/>
        </p:nvSpPr>
        <p:spPr>
          <a:xfrm>
            <a:off x="3886197" y="5674704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Seaborn-Trend and pattern visualization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7ECB4-E23B-3101-3F1B-DF04A959BD3C}"/>
              </a:ext>
            </a:extLst>
          </p:cNvPr>
          <p:cNvSpPr/>
          <p:nvPr/>
        </p:nvSpPr>
        <p:spPr>
          <a:xfrm>
            <a:off x="9908273" y="5674704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Matplotlib-Data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803AE10A-4CCA-FAAE-1DC5-8B74882C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>
            <a:extLst>
              <a:ext uri="{FF2B5EF4-FFF2-40B4-BE49-F238E27FC236}">
                <a16:creationId xmlns:a16="http://schemas.microsoft.com/office/drawing/2014/main" id="{9D5DFA75-02EE-5B53-0CEA-DB16B028A912}"/>
              </a:ext>
            </a:extLst>
          </p:cNvPr>
          <p:cNvSpPr txBox="1"/>
          <p:nvPr/>
        </p:nvSpPr>
        <p:spPr>
          <a:xfrm>
            <a:off x="1001404" y="994365"/>
            <a:ext cx="154032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>
                <a:solidFill>
                  <a:schemeClr val="accent2"/>
                </a:solidFill>
                <a:latin typeface="Russo One" panose="020B0604020202020204" charset="0"/>
              </a:rPr>
              <a:t>DATA CLEANSING STEPS</a:t>
            </a:r>
            <a:endParaRPr sz="5400" dirty="0">
              <a:solidFill>
                <a:schemeClr val="accent2"/>
              </a:solidFill>
              <a:latin typeface="Russo One" panose="020B06040202020202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8F541-86AB-6148-323B-2005CFBFF67D}"/>
              </a:ext>
            </a:extLst>
          </p:cNvPr>
          <p:cNvSpPr/>
          <p:nvPr/>
        </p:nvSpPr>
        <p:spPr>
          <a:xfrm>
            <a:off x="1555845" y="3854171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HANDLED MISSING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DFA09-B11E-4128-4DE0-8321DC3167EA}"/>
              </a:ext>
            </a:extLst>
          </p:cNvPr>
          <p:cNvSpPr/>
          <p:nvPr/>
        </p:nvSpPr>
        <p:spPr>
          <a:xfrm>
            <a:off x="5861715" y="6876955"/>
            <a:ext cx="4449170" cy="1965278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ENCODED CATEGORICAL FEATURES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7D0B6-A5AE-2E76-EB4C-74F7497C2FC3}"/>
              </a:ext>
            </a:extLst>
          </p:cNvPr>
          <p:cNvSpPr/>
          <p:nvPr/>
        </p:nvSpPr>
        <p:spPr>
          <a:xfrm>
            <a:off x="10276765" y="3854171"/>
            <a:ext cx="4271750" cy="167317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REMOVED IRRELEVANT COLUMNS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36B27-4FD2-3C1A-D7C6-28DB76BB4E62}"/>
              </a:ext>
            </a:extLst>
          </p:cNvPr>
          <p:cNvSpPr/>
          <p:nvPr/>
        </p:nvSpPr>
        <p:spPr>
          <a:xfrm>
            <a:off x="3261815" y="2999867"/>
            <a:ext cx="859809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500A1-13FA-BABC-531C-9F298FB2AE6E}"/>
              </a:ext>
            </a:extLst>
          </p:cNvPr>
          <p:cNvSpPr/>
          <p:nvPr/>
        </p:nvSpPr>
        <p:spPr>
          <a:xfrm>
            <a:off x="11807588" y="3023174"/>
            <a:ext cx="859809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F4D930-AD77-09AE-D697-34F21FAEB4BB}"/>
              </a:ext>
            </a:extLst>
          </p:cNvPr>
          <p:cNvSpPr/>
          <p:nvPr/>
        </p:nvSpPr>
        <p:spPr>
          <a:xfrm>
            <a:off x="7499446" y="6045958"/>
            <a:ext cx="859809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0991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/>
        </p:nvSpPr>
        <p:spPr>
          <a:xfrm>
            <a:off x="3342572" y="2155618"/>
            <a:ext cx="3617675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Mission</a:t>
            </a:r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2BD9F3-07DF-9EB7-2207-E92D6CFF7559}"/>
              </a:ext>
            </a:extLst>
          </p:cNvPr>
          <p:cNvSpPr/>
          <p:nvPr/>
        </p:nvSpPr>
        <p:spPr>
          <a:xfrm>
            <a:off x="777922" y="600501"/>
            <a:ext cx="16350017" cy="1678674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accent2"/>
                </a:solidFill>
                <a:latin typeface="Russo One" panose="020B0604020202020204" charset="0"/>
              </a:rPr>
              <a:t>EXPLORATORY DATA ANALYSIS (EDA)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AF5D8B-2855-E802-2392-BDDDD8451D4E}"/>
              </a:ext>
            </a:extLst>
          </p:cNvPr>
          <p:cNvSpPr/>
          <p:nvPr/>
        </p:nvSpPr>
        <p:spPr>
          <a:xfrm>
            <a:off x="1302735" y="3656644"/>
            <a:ext cx="4667535" cy="12555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Count of Each Risk Level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60D217-25E3-E785-4A3B-4481B5BF983E}"/>
              </a:ext>
            </a:extLst>
          </p:cNvPr>
          <p:cNvSpPr/>
          <p:nvPr/>
        </p:nvSpPr>
        <p:spPr>
          <a:xfrm>
            <a:off x="8557145" y="5482989"/>
            <a:ext cx="4667535" cy="12555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Budget Distribution by Risk Level</a:t>
            </a:r>
          </a:p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0834BA-25EF-8557-5E88-139EA690458C}"/>
              </a:ext>
            </a:extLst>
          </p:cNvPr>
          <p:cNvSpPr/>
          <p:nvPr/>
        </p:nvSpPr>
        <p:spPr>
          <a:xfrm>
            <a:off x="10890912" y="3656644"/>
            <a:ext cx="4667535" cy="12555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Histogram of Project Budget</a:t>
            </a:r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A5642-FFCA-E481-2684-5B4057402E80}"/>
              </a:ext>
            </a:extLst>
          </p:cNvPr>
          <p:cNvSpPr/>
          <p:nvPr/>
        </p:nvSpPr>
        <p:spPr>
          <a:xfrm>
            <a:off x="3193574" y="5482989"/>
            <a:ext cx="4667535" cy="12555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Correlation Heatmap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28799"/>
            <a:ext cx="7287906" cy="865268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7"/>
          <p:cNvSpPr txBox="1"/>
          <p:nvPr/>
        </p:nvSpPr>
        <p:spPr>
          <a:xfrm>
            <a:off x="2251880" y="967493"/>
            <a:ext cx="1183261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4800" b="1" dirty="0">
                <a:solidFill>
                  <a:schemeClr val="accent2"/>
                </a:solidFill>
                <a:latin typeface="Russo One" panose="020B0604020202020204" charset="0"/>
              </a:rPr>
              <a:t>OBSERVATIONS &amp; KEY INSIGHTS</a:t>
            </a:r>
            <a:endParaRPr sz="4800" b="1" dirty="0">
              <a:solidFill>
                <a:schemeClr val="accent2"/>
              </a:solidFill>
              <a:latin typeface="Russo One" panose="020B0604020202020204" charset="0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7451676" y="3677538"/>
            <a:ext cx="9335069" cy="420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Dataset contains numerical and categorical features.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Missing values were cleaned before training.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Best model was chosen after testing multiple algorithms.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Key features strongly affect risk level.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Scaling and encoding improved accuracy.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8263" y="783673"/>
            <a:ext cx="4209176" cy="3982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1798" y="-595389"/>
            <a:ext cx="10693749" cy="108041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18"/>
          <p:cNvGrpSpPr/>
          <p:nvPr/>
        </p:nvGrpSpPr>
        <p:grpSpPr>
          <a:xfrm>
            <a:off x="953401" y="2474864"/>
            <a:ext cx="2179819" cy="1933363"/>
            <a:chOff x="0" y="-28575"/>
            <a:chExt cx="783761" cy="652148"/>
          </a:xfrm>
        </p:grpSpPr>
        <p:sp>
          <p:nvSpPr>
            <p:cNvPr id="266" name="Google Shape;266;p18"/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8"/>
          <p:cNvGrpSpPr/>
          <p:nvPr/>
        </p:nvGrpSpPr>
        <p:grpSpPr>
          <a:xfrm>
            <a:off x="8639505" y="2559578"/>
            <a:ext cx="2220644" cy="1902601"/>
            <a:chOff x="0" y="-28575"/>
            <a:chExt cx="783761" cy="652148"/>
          </a:xfrm>
        </p:grpSpPr>
        <p:sp>
          <p:nvSpPr>
            <p:cNvPr id="269" name="Google Shape;269;p18"/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8"/>
          <p:cNvGrpSpPr/>
          <p:nvPr/>
        </p:nvGrpSpPr>
        <p:grpSpPr>
          <a:xfrm>
            <a:off x="1009274" y="6758625"/>
            <a:ext cx="2179819" cy="2096631"/>
            <a:chOff x="0" y="-28575"/>
            <a:chExt cx="783761" cy="652148"/>
          </a:xfrm>
        </p:grpSpPr>
        <p:sp>
          <p:nvSpPr>
            <p:cNvPr id="272" name="Google Shape;272;p18"/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8"/>
          <p:cNvSpPr/>
          <p:nvPr/>
        </p:nvSpPr>
        <p:spPr>
          <a:xfrm>
            <a:off x="9089351" y="2815455"/>
            <a:ext cx="1524091" cy="1474212"/>
          </a:xfrm>
          <a:custGeom>
            <a:avLst/>
            <a:gdLst/>
            <a:ahLst/>
            <a:cxnLst/>
            <a:rect l="l" t="t" r="r" b="b"/>
            <a:pathLst>
              <a:path w="1524091" h="1474212" extrusionOk="0">
                <a:moveTo>
                  <a:pt x="0" y="0"/>
                </a:moveTo>
                <a:lnTo>
                  <a:pt x="1524091" y="0"/>
                </a:lnTo>
                <a:lnTo>
                  <a:pt x="1524091" y="1474212"/>
                </a:lnTo>
                <a:lnTo>
                  <a:pt x="0" y="1474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79" name="Google Shape;279;p18"/>
          <p:cNvSpPr/>
          <p:nvPr/>
        </p:nvSpPr>
        <p:spPr>
          <a:xfrm>
            <a:off x="1238937" y="2736822"/>
            <a:ext cx="1643309" cy="1479574"/>
          </a:xfrm>
          <a:custGeom>
            <a:avLst/>
            <a:gdLst/>
            <a:ahLst/>
            <a:cxnLst/>
            <a:rect l="l" t="t" r="r" b="b"/>
            <a:pathLst>
              <a:path w="1643309" h="1479574" extrusionOk="0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p18"/>
          <p:cNvSpPr/>
          <p:nvPr/>
        </p:nvSpPr>
        <p:spPr>
          <a:xfrm>
            <a:off x="1350687" y="6994219"/>
            <a:ext cx="1608745" cy="1466405"/>
          </a:xfrm>
          <a:custGeom>
            <a:avLst/>
            <a:gdLst/>
            <a:ahLst/>
            <a:cxnLst/>
            <a:rect l="l" t="t" r="r" b="b"/>
            <a:pathLst>
              <a:path w="1608745" h="1669452" extrusionOk="0">
                <a:moveTo>
                  <a:pt x="0" y="0"/>
                </a:moveTo>
                <a:lnTo>
                  <a:pt x="1608745" y="0"/>
                </a:lnTo>
                <a:lnTo>
                  <a:pt x="1608745" y="1669452"/>
                </a:lnTo>
                <a:lnTo>
                  <a:pt x="0" y="166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6" name="Google Shape;286;p18"/>
          <p:cNvSpPr txBox="1"/>
          <p:nvPr/>
        </p:nvSpPr>
        <p:spPr>
          <a:xfrm>
            <a:off x="1902157" y="1035869"/>
            <a:ext cx="12058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CHALLENGES FACED</a:t>
            </a:r>
            <a:endParaRPr lang="en-US" dirty="0"/>
          </a:p>
        </p:txBody>
      </p:sp>
      <p:grpSp>
        <p:nvGrpSpPr>
          <p:cNvPr id="2" name="Google Shape;268;p18">
            <a:extLst>
              <a:ext uri="{FF2B5EF4-FFF2-40B4-BE49-F238E27FC236}">
                <a16:creationId xmlns:a16="http://schemas.microsoft.com/office/drawing/2014/main" id="{9450D93C-670A-DFDC-E3F7-BAE768BBF458}"/>
              </a:ext>
            </a:extLst>
          </p:cNvPr>
          <p:cNvGrpSpPr/>
          <p:nvPr/>
        </p:nvGrpSpPr>
        <p:grpSpPr>
          <a:xfrm>
            <a:off x="8632999" y="6758625"/>
            <a:ext cx="2220644" cy="1902601"/>
            <a:chOff x="0" y="-28575"/>
            <a:chExt cx="783761" cy="652148"/>
          </a:xfrm>
        </p:grpSpPr>
        <p:sp>
          <p:nvSpPr>
            <p:cNvPr id="3" name="Google Shape;269;p18">
              <a:extLst>
                <a:ext uri="{FF2B5EF4-FFF2-40B4-BE49-F238E27FC236}">
                  <a16:creationId xmlns:a16="http://schemas.microsoft.com/office/drawing/2014/main" id="{91927EC8-4F08-3697-9801-8A7430127FD4}"/>
                </a:ext>
              </a:extLst>
            </p:cNvPr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0;p18">
              <a:extLst>
                <a:ext uri="{FF2B5EF4-FFF2-40B4-BE49-F238E27FC236}">
                  <a16:creationId xmlns:a16="http://schemas.microsoft.com/office/drawing/2014/main" id="{5A746C4B-ECE5-DDBE-AF53-C4F026E34D71}"/>
                </a:ext>
              </a:extLst>
            </p:cNvPr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279;p18">
            <a:extLst>
              <a:ext uri="{FF2B5EF4-FFF2-40B4-BE49-F238E27FC236}">
                <a16:creationId xmlns:a16="http://schemas.microsoft.com/office/drawing/2014/main" id="{2EF76E61-CF00-843E-1EAF-C52CF115DB2F}"/>
              </a:ext>
            </a:extLst>
          </p:cNvPr>
          <p:cNvSpPr/>
          <p:nvPr/>
        </p:nvSpPr>
        <p:spPr>
          <a:xfrm>
            <a:off x="8921667" y="7067152"/>
            <a:ext cx="1643309" cy="1479574"/>
          </a:xfrm>
          <a:custGeom>
            <a:avLst/>
            <a:gdLst/>
            <a:ahLst/>
            <a:cxnLst/>
            <a:rect l="l" t="t" r="r" b="b"/>
            <a:pathLst>
              <a:path w="1643309" h="1479574" extrusionOk="0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A6CD8-2147-24AB-C57A-ACA598E7F596}"/>
              </a:ext>
            </a:extLst>
          </p:cNvPr>
          <p:cNvSpPr/>
          <p:nvPr/>
        </p:nvSpPr>
        <p:spPr>
          <a:xfrm>
            <a:off x="3418756" y="2842543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The dataset contained </a:t>
            </a:r>
            <a:r>
              <a:rPr lang="en-US" sz="1800" b="1" dirty="0"/>
              <a:t>missing values</a:t>
            </a:r>
            <a:r>
              <a:rPr lang="en-US" sz="1800" dirty="0"/>
              <a:t> in important feature columns, which caused issues during preprocessing.</a:t>
            </a:r>
            <a:endParaRPr lang="en-IN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68E56-E2DF-F863-09DC-9ABE26A8FA48}"/>
              </a:ext>
            </a:extLst>
          </p:cNvPr>
          <p:cNvSpPr/>
          <p:nvPr/>
        </p:nvSpPr>
        <p:spPr>
          <a:xfrm>
            <a:off x="11161283" y="7097276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Certain models, like Logistic Regression and SVM, were sensitive to </a:t>
            </a:r>
            <a:r>
              <a:rPr lang="en-US" sz="1800" b="1" dirty="0"/>
              <a:t>unscaled numerical values</a:t>
            </a:r>
            <a:r>
              <a:rPr lang="en-US" sz="1800" dirty="0"/>
              <a:t>, causing poor performance before applying scaling.</a:t>
            </a:r>
            <a:endParaRPr lang="en-IN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81BFC-9725-1FE5-F6B8-778768A2EA54}"/>
              </a:ext>
            </a:extLst>
          </p:cNvPr>
          <p:cNvSpPr/>
          <p:nvPr/>
        </p:nvSpPr>
        <p:spPr>
          <a:xfrm>
            <a:off x="11161283" y="2871272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800" dirty="0"/>
          </a:p>
          <a:p>
            <a:r>
              <a:rPr lang="en-US" sz="1800" dirty="0"/>
              <a:t>Some categorical columns had </a:t>
            </a:r>
            <a:r>
              <a:rPr lang="en-US" sz="1800" b="1" dirty="0"/>
              <a:t>inconsistent labels</a:t>
            </a:r>
            <a:r>
              <a:rPr lang="en-US" sz="1800" dirty="0"/>
              <a:t> (different spellings or mixed formats), requiring manual correction.</a:t>
            </a: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11D96E-9114-7FBF-198F-5E64FC18D5BA}"/>
              </a:ext>
            </a:extLst>
          </p:cNvPr>
          <p:cNvSpPr/>
          <p:nvPr/>
        </p:nvSpPr>
        <p:spPr>
          <a:xfrm>
            <a:off x="3365501" y="7176795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800" dirty="0"/>
          </a:p>
          <a:p>
            <a:r>
              <a:rPr lang="en-US" sz="1800" dirty="0"/>
              <a:t>Model pipelines initially failed due to </a:t>
            </a:r>
            <a:r>
              <a:rPr lang="en-US" sz="1800" b="1" dirty="0"/>
              <a:t>unencoded categorical variables</a:t>
            </a:r>
            <a:r>
              <a:rPr lang="en-US" sz="1800" dirty="0"/>
              <a:t>, especially when using algorithms that only accept numerical inputs.</a:t>
            </a:r>
            <a:endParaRPr lang="en-US" sz="1800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A8BDDAB-C4E8-D335-90A2-EAC83C4EA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8">
            <a:extLst>
              <a:ext uri="{FF2B5EF4-FFF2-40B4-BE49-F238E27FC236}">
                <a16:creationId xmlns:a16="http://schemas.microsoft.com/office/drawing/2014/main" id="{55CA3D9F-9C7D-F54B-F377-5C18320C03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8263" y="783673"/>
            <a:ext cx="4209176" cy="3982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>
            <a:extLst>
              <a:ext uri="{FF2B5EF4-FFF2-40B4-BE49-F238E27FC236}">
                <a16:creationId xmlns:a16="http://schemas.microsoft.com/office/drawing/2014/main" id="{1C60CD08-73DE-DB0E-0031-2D23EC7336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854" y="-939901"/>
            <a:ext cx="10693749" cy="108041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18">
            <a:extLst>
              <a:ext uri="{FF2B5EF4-FFF2-40B4-BE49-F238E27FC236}">
                <a16:creationId xmlns:a16="http://schemas.microsoft.com/office/drawing/2014/main" id="{7AB92E4B-A1D3-C637-A00A-B68ED9A40DA2}"/>
              </a:ext>
            </a:extLst>
          </p:cNvPr>
          <p:cNvGrpSpPr/>
          <p:nvPr/>
        </p:nvGrpSpPr>
        <p:grpSpPr>
          <a:xfrm>
            <a:off x="953401" y="2474864"/>
            <a:ext cx="2179819" cy="1933363"/>
            <a:chOff x="0" y="-28575"/>
            <a:chExt cx="783761" cy="652148"/>
          </a:xfrm>
        </p:grpSpPr>
        <p:sp>
          <p:nvSpPr>
            <p:cNvPr id="266" name="Google Shape;266;p18">
              <a:extLst>
                <a:ext uri="{FF2B5EF4-FFF2-40B4-BE49-F238E27FC236}">
                  <a16:creationId xmlns:a16="http://schemas.microsoft.com/office/drawing/2014/main" id="{BF29F42A-4650-9FCA-507F-1DDFDC3BD185}"/>
                </a:ext>
              </a:extLst>
            </p:cNvPr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8">
              <a:extLst>
                <a:ext uri="{FF2B5EF4-FFF2-40B4-BE49-F238E27FC236}">
                  <a16:creationId xmlns:a16="http://schemas.microsoft.com/office/drawing/2014/main" id="{E7FA264E-6404-BF93-04C1-6334AADE42DC}"/>
                </a:ext>
              </a:extLst>
            </p:cNvPr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8">
            <a:extLst>
              <a:ext uri="{FF2B5EF4-FFF2-40B4-BE49-F238E27FC236}">
                <a16:creationId xmlns:a16="http://schemas.microsoft.com/office/drawing/2014/main" id="{C2B42E6F-3F27-A05F-1742-7AA2823BA268}"/>
              </a:ext>
            </a:extLst>
          </p:cNvPr>
          <p:cNvGrpSpPr/>
          <p:nvPr/>
        </p:nvGrpSpPr>
        <p:grpSpPr>
          <a:xfrm>
            <a:off x="8639505" y="2559578"/>
            <a:ext cx="2220644" cy="1902601"/>
            <a:chOff x="0" y="-28575"/>
            <a:chExt cx="783761" cy="652148"/>
          </a:xfrm>
        </p:grpSpPr>
        <p:sp>
          <p:nvSpPr>
            <p:cNvPr id="269" name="Google Shape;269;p18">
              <a:extLst>
                <a:ext uri="{FF2B5EF4-FFF2-40B4-BE49-F238E27FC236}">
                  <a16:creationId xmlns:a16="http://schemas.microsoft.com/office/drawing/2014/main" id="{BE1513B8-7501-6A9D-34E4-68E0799EB33C}"/>
                </a:ext>
              </a:extLst>
            </p:cNvPr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8">
              <a:extLst>
                <a:ext uri="{FF2B5EF4-FFF2-40B4-BE49-F238E27FC236}">
                  <a16:creationId xmlns:a16="http://schemas.microsoft.com/office/drawing/2014/main" id="{3FC13DB0-95F1-2892-ED2E-E09C531BD379}"/>
                </a:ext>
              </a:extLst>
            </p:cNvPr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8">
            <a:extLst>
              <a:ext uri="{FF2B5EF4-FFF2-40B4-BE49-F238E27FC236}">
                <a16:creationId xmlns:a16="http://schemas.microsoft.com/office/drawing/2014/main" id="{B759A273-8104-1BF0-26A8-E5C7082B1C93}"/>
              </a:ext>
            </a:extLst>
          </p:cNvPr>
          <p:cNvGrpSpPr/>
          <p:nvPr/>
        </p:nvGrpSpPr>
        <p:grpSpPr>
          <a:xfrm>
            <a:off x="1009274" y="6758625"/>
            <a:ext cx="2179819" cy="2096631"/>
            <a:chOff x="0" y="-28575"/>
            <a:chExt cx="783761" cy="652148"/>
          </a:xfrm>
        </p:grpSpPr>
        <p:sp>
          <p:nvSpPr>
            <p:cNvPr id="272" name="Google Shape;272;p18">
              <a:extLst>
                <a:ext uri="{FF2B5EF4-FFF2-40B4-BE49-F238E27FC236}">
                  <a16:creationId xmlns:a16="http://schemas.microsoft.com/office/drawing/2014/main" id="{C6F60E0E-B20F-5FE3-E0EC-DCFF88845C6D}"/>
                </a:ext>
              </a:extLst>
            </p:cNvPr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>
              <a:extLst>
                <a:ext uri="{FF2B5EF4-FFF2-40B4-BE49-F238E27FC236}">
                  <a16:creationId xmlns:a16="http://schemas.microsoft.com/office/drawing/2014/main" id="{89CA24E7-D321-3AC4-48E2-CD210A933B03}"/>
                </a:ext>
              </a:extLst>
            </p:cNvPr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4BDE2561-66D8-D227-8534-65036C077752}"/>
              </a:ext>
            </a:extLst>
          </p:cNvPr>
          <p:cNvSpPr/>
          <p:nvPr/>
        </p:nvSpPr>
        <p:spPr>
          <a:xfrm>
            <a:off x="9089351" y="2815455"/>
            <a:ext cx="1524091" cy="1474212"/>
          </a:xfrm>
          <a:custGeom>
            <a:avLst/>
            <a:gdLst/>
            <a:ahLst/>
            <a:cxnLst/>
            <a:rect l="l" t="t" r="r" b="b"/>
            <a:pathLst>
              <a:path w="1524091" h="1474212" extrusionOk="0">
                <a:moveTo>
                  <a:pt x="0" y="0"/>
                </a:moveTo>
                <a:lnTo>
                  <a:pt x="1524091" y="0"/>
                </a:lnTo>
                <a:lnTo>
                  <a:pt x="1524091" y="1474212"/>
                </a:lnTo>
                <a:lnTo>
                  <a:pt x="0" y="1474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2C0E5DA4-8F3A-F4A6-54B1-5AE14FBAFD1F}"/>
              </a:ext>
            </a:extLst>
          </p:cNvPr>
          <p:cNvSpPr/>
          <p:nvPr/>
        </p:nvSpPr>
        <p:spPr>
          <a:xfrm>
            <a:off x="1238937" y="2736822"/>
            <a:ext cx="1643309" cy="1479574"/>
          </a:xfrm>
          <a:custGeom>
            <a:avLst/>
            <a:gdLst/>
            <a:ahLst/>
            <a:cxnLst/>
            <a:rect l="l" t="t" r="r" b="b"/>
            <a:pathLst>
              <a:path w="1643309" h="1479574" extrusionOk="0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CF58A592-0341-8C78-75D8-5477CDEE5F2E}"/>
              </a:ext>
            </a:extLst>
          </p:cNvPr>
          <p:cNvSpPr/>
          <p:nvPr/>
        </p:nvSpPr>
        <p:spPr>
          <a:xfrm>
            <a:off x="1350687" y="6994219"/>
            <a:ext cx="1608745" cy="1466405"/>
          </a:xfrm>
          <a:custGeom>
            <a:avLst/>
            <a:gdLst/>
            <a:ahLst/>
            <a:cxnLst/>
            <a:rect l="l" t="t" r="r" b="b"/>
            <a:pathLst>
              <a:path w="1608745" h="1669452" extrusionOk="0">
                <a:moveTo>
                  <a:pt x="0" y="0"/>
                </a:moveTo>
                <a:lnTo>
                  <a:pt x="1608745" y="0"/>
                </a:lnTo>
                <a:lnTo>
                  <a:pt x="1608745" y="1669452"/>
                </a:lnTo>
                <a:lnTo>
                  <a:pt x="0" y="166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6" name="Google Shape;286;p18">
            <a:extLst>
              <a:ext uri="{FF2B5EF4-FFF2-40B4-BE49-F238E27FC236}">
                <a16:creationId xmlns:a16="http://schemas.microsoft.com/office/drawing/2014/main" id="{7138C297-3F69-87AD-90B4-4661DCC9CFCD}"/>
              </a:ext>
            </a:extLst>
          </p:cNvPr>
          <p:cNvSpPr txBox="1"/>
          <p:nvPr/>
        </p:nvSpPr>
        <p:spPr>
          <a:xfrm>
            <a:off x="1792975" y="721654"/>
            <a:ext cx="120588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dirty="0">
                <a:solidFill>
                  <a:srgbClr val="1D2947"/>
                </a:solidFill>
                <a:latin typeface="Russo One"/>
                <a:ea typeface="Russo One"/>
                <a:cs typeface="Russo One"/>
                <a:sym typeface="Russo One"/>
              </a:rPr>
              <a:t>FUTURE ENHANCEMENT</a:t>
            </a:r>
            <a:endParaRPr lang="en-US" dirty="0"/>
          </a:p>
        </p:txBody>
      </p:sp>
      <p:grpSp>
        <p:nvGrpSpPr>
          <p:cNvPr id="2" name="Google Shape;268;p18">
            <a:extLst>
              <a:ext uri="{FF2B5EF4-FFF2-40B4-BE49-F238E27FC236}">
                <a16:creationId xmlns:a16="http://schemas.microsoft.com/office/drawing/2014/main" id="{BE910FBA-D8A0-D08A-3457-2F52631CF32A}"/>
              </a:ext>
            </a:extLst>
          </p:cNvPr>
          <p:cNvGrpSpPr/>
          <p:nvPr/>
        </p:nvGrpSpPr>
        <p:grpSpPr>
          <a:xfrm>
            <a:off x="8632999" y="6758625"/>
            <a:ext cx="2220644" cy="1902601"/>
            <a:chOff x="0" y="-28575"/>
            <a:chExt cx="783761" cy="652148"/>
          </a:xfrm>
        </p:grpSpPr>
        <p:sp>
          <p:nvSpPr>
            <p:cNvPr id="3" name="Google Shape;269;p18">
              <a:extLst>
                <a:ext uri="{FF2B5EF4-FFF2-40B4-BE49-F238E27FC236}">
                  <a16:creationId xmlns:a16="http://schemas.microsoft.com/office/drawing/2014/main" id="{97D9804F-3CE4-D6E6-178E-A7B8D2221282}"/>
                </a:ext>
              </a:extLst>
            </p:cNvPr>
            <p:cNvSpPr/>
            <p:nvPr/>
          </p:nvSpPr>
          <p:spPr>
            <a:xfrm>
              <a:off x="0" y="0"/>
              <a:ext cx="783761" cy="623573"/>
            </a:xfrm>
            <a:custGeom>
              <a:avLst/>
              <a:gdLst/>
              <a:ahLst/>
              <a:cxnLst/>
              <a:rect l="l" t="t" r="r" b="b"/>
              <a:pathLst>
                <a:path w="783761" h="623573" extrusionOk="0">
                  <a:moveTo>
                    <a:pt x="132681" y="0"/>
                  </a:moveTo>
                  <a:lnTo>
                    <a:pt x="651080" y="0"/>
                  </a:lnTo>
                  <a:cubicBezTo>
                    <a:pt x="686269" y="0"/>
                    <a:pt x="720017" y="13979"/>
                    <a:pt x="744900" y="38861"/>
                  </a:cubicBezTo>
                  <a:cubicBezTo>
                    <a:pt x="769782" y="63744"/>
                    <a:pt x="783761" y="97492"/>
                    <a:pt x="783761" y="132681"/>
                  </a:cubicBezTo>
                  <a:lnTo>
                    <a:pt x="783761" y="490892"/>
                  </a:lnTo>
                  <a:cubicBezTo>
                    <a:pt x="783761" y="526081"/>
                    <a:pt x="769782" y="559829"/>
                    <a:pt x="744900" y="584712"/>
                  </a:cubicBezTo>
                  <a:cubicBezTo>
                    <a:pt x="720017" y="609594"/>
                    <a:pt x="686269" y="623573"/>
                    <a:pt x="651080" y="623573"/>
                  </a:cubicBezTo>
                  <a:lnTo>
                    <a:pt x="132681" y="623573"/>
                  </a:lnTo>
                  <a:cubicBezTo>
                    <a:pt x="97492" y="623573"/>
                    <a:pt x="63744" y="609594"/>
                    <a:pt x="38861" y="584712"/>
                  </a:cubicBezTo>
                  <a:cubicBezTo>
                    <a:pt x="13979" y="559829"/>
                    <a:pt x="0" y="526081"/>
                    <a:pt x="0" y="490892"/>
                  </a:cubicBezTo>
                  <a:lnTo>
                    <a:pt x="0" y="132681"/>
                  </a:lnTo>
                  <a:cubicBezTo>
                    <a:pt x="0" y="97492"/>
                    <a:pt x="13979" y="63744"/>
                    <a:pt x="38861" y="38861"/>
                  </a:cubicBezTo>
                  <a:cubicBezTo>
                    <a:pt x="63744" y="13979"/>
                    <a:pt x="97492" y="0"/>
                    <a:pt x="132681" y="0"/>
                  </a:cubicBezTo>
                  <a:close/>
                </a:path>
              </a:pathLst>
            </a:custGeom>
            <a:solidFill>
              <a:srgbClr val="FF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0;p18">
              <a:extLst>
                <a:ext uri="{FF2B5EF4-FFF2-40B4-BE49-F238E27FC236}">
                  <a16:creationId xmlns:a16="http://schemas.microsoft.com/office/drawing/2014/main" id="{BEE2EC12-C963-D757-0070-2D3718E60552}"/>
                </a:ext>
              </a:extLst>
            </p:cNvPr>
            <p:cNvSpPr txBox="1"/>
            <p:nvPr/>
          </p:nvSpPr>
          <p:spPr>
            <a:xfrm>
              <a:off x="0" y="-28575"/>
              <a:ext cx="783761" cy="652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279;p18">
            <a:extLst>
              <a:ext uri="{FF2B5EF4-FFF2-40B4-BE49-F238E27FC236}">
                <a16:creationId xmlns:a16="http://schemas.microsoft.com/office/drawing/2014/main" id="{24093174-F192-4EBE-CEA3-3593991E8918}"/>
              </a:ext>
            </a:extLst>
          </p:cNvPr>
          <p:cNvSpPr/>
          <p:nvPr/>
        </p:nvSpPr>
        <p:spPr>
          <a:xfrm>
            <a:off x="8921667" y="7067152"/>
            <a:ext cx="1643309" cy="1479574"/>
          </a:xfrm>
          <a:custGeom>
            <a:avLst/>
            <a:gdLst/>
            <a:ahLst/>
            <a:cxnLst/>
            <a:rect l="l" t="t" r="r" b="b"/>
            <a:pathLst>
              <a:path w="1643309" h="1479574" extrusionOk="0">
                <a:moveTo>
                  <a:pt x="0" y="0"/>
                </a:moveTo>
                <a:lnTo>
                  <a:pt x="1643309" y="0"/>
                </a:lnTo>
                <a:lnTo>
                  <a:pt x="1643309" y="1479574"/>
                </a:lnTo>
                <a:lnTo>
                  <a:pt x="0" y="1479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25D6F1-95F7-9CB8-51F1-C7B1B56C930E}"/>
              </a:ext>
            </a:extLst>
          </p:cNvPr>
          <p:cNvSpPr/>
          <p:nvPr/>
        </p:nvSpPr>
        <p:spPr>
          <a:xfrm>
            <a:off x="3418756" y="2842543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Collect more data and include additional features for better model accuracy..</a:t>
            </a:r>
            <a:endParaRPr lang="en-IN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BCCFC6-10F5-71BC-5456-AA06675FEFE8}"/>
              </a:ext>
            </a:extLst>
          </p:cNvPr>
          <p:cNvSpPr/>
          <p:nvPr/>
        </p:nvSpPr>
        <p:spPr>
          <a:xfrm>
            <a:off x="11161283" y="7097276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Implement feedback loops and retrain the model with new data for improved predictions..</a:t>
            </a:r>
            <a:endParaRPr lang="en-IN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CBF70-0F68-4E16-AB03-460B46509C90}"/>
              </a:ext>
            </a:extLst>
          </p:cNvPr>
          <p:cNvSpPr/>
          <p:nvPr/>
        </p:nvSpPr>
        <p:spPr>
          <a:xfrm>
            <a:off x="11161283" y="2869530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800" dirty="0"/>
          </a:p>
          <a:p>
            <a:r>
              <a:rPr lang="en-US" sz="1800" dirty="0"/>
              <a:t>Test powerful algorithms like XGBoost, LightGBM, or deep learning.</a:t>
            </a:r>
            <a:endParaRPr lang="en-US" sz="1800" b="1" dirty="0"/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BDA5DB-6088-F6E2-FC03-DBAA553BD973}"/>
              </a:ext>
            </a:extLst>
          </p:cNvPr>
          <p:cNvSpPr/>
          <p:nvPr/>
        </p:nvSpPr>
        <p:spPr>
          <a:xfrm>
            <a:off x="3444209" y="7176794"/>
            <a:ext cx="4647071" cy="12602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Convert the model into a web app and visualize results via interactive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96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0" y="1312385"/>
            <a:ext cx="9144000" cy="89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7"/>
          <p:cNvSpPr txBox="1"/>
          <p:nvPr/>
        </p:nvSpPr>
        <p:spPr>
          <a:xfrm>
            <a:off x="996287" y="581164"/>
            <a:ext cx="14581836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999" dirty="0">
                <a:solidFill>
                  <a:srgbClr val="1D2947"/>
                </a:solidFill>
                <a:latin typeface="Russo One"/>
                <a:sym typeface="Russo One"/>
              </a:rPr>
              <a:t>conclusion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22192-06A8-8569-3CDF-28614742C48A}"/>
              </a:ext>
            </a:extLst>
          </p:cNvPr>
          <p:cNvSpPr/>
          <p:nvPr/>
        </p:nvSpPr>
        <p:spPr>
          <a:xfrm>
            <a:off x="1241947" y="3439237"/>
            <a:ext cx="7656394" cy="40943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Machine</a:t>
            </a:r>
            <a:r>
              <a:rPr lang="en-US" altLang="en-US" sz="2800" dirty="0">
                <a:solidFill>
                  <a:schemeClr val="tx1"/>
                </a:solidFill>
                <a:latin typeface="Lexend Light" panose="020B0604020202020204" charset="0"/>
              </a:rPr>
              <a:t> learning is used to predict the Risk level.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Different models were compared for performance.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The best model was saved using Pickle.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A Flask web app was built for prediction.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solidFill>
                <a:schemeClr val="tx1"/>
              </a:solidFill>
              <a:latin typeface="Lexend Light" panose="020B060402020202020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solidFill>
                <a:schemeClr val="tx1"/>
              </a:solidFill>
              <a:latin typeface="Lexend Light" panose="020B0604020202020204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475" y="669144"/>
            <a:ext cx="9010925" cy="901698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9"/>
          <p:cNvSpPr/>
          <p:nvPr/>
        </p:nvSpPr>
        <p:spPr>
          <a:xfrm>
            <a:off x="9818911" y="847539"/>
            <a:ext cx="146706" cy="146706"/>
          </a:xfrm>
          <a:custGeom>
            <a:avLst/>
            <a:gdLst/>
            <a:ahLst/>
            <a:cxnLst/>
            <a:rect l="l" t="t" r="r" b="b"/>
            <a:pathLst>
              <a:path w="146706" h="146706" extrusionOk="0">
                <a:moveTo>
                  <a:pt x="0" y="0"/>
                </a:moveTo>
                <a:lnTo>
                  <a:pt x="146706" y="0"/>
                </a:lnTo>
                <a:lnTo>
                  <a:pt x="146706" y="146706"/>
                </a:lnTo>
                <a:lnTo>
                  <a:pt x="0" y="146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32F14-6DB2-C3D0-F4C2-938A3A3B5129}"/>
              </a:ext>
            </a:extLst>
          </p:cNvPr>
          <p:cNvSpPr/>
          <p:nvPr/>
        </p:nvSpPr>
        <p:spPr>
          <a:xfrm>
            <a:off x="450376" y="1284980"/>
            <a:ext cx="7249740" cy="40478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sz="9600" dirty="0">
                <a:solidFill>
                  <a:schemeClr val="accent2"/>
                </a:solidFill>
                <a:latin typeface="Russo One" panose="020B0604020202020204" charset="0"/>
              </a:rPr>
              <a:t>THANK YOU </a:t>
            </a:r>
            <a:endParaRPr lang="en-IN" sz="9600" dirty="0">
              <a:solidFill>
                <a:schemeClr val="accent2"/>
              </a:solidFill>
              <a:latin typeface="Russo One" panose="020B0604020202020204" charset="0"/>
            </a:endParaRPr>
          </a:p>
        </p:txBody>
      </p:sp>
      <p:pic>
        <p:nvPicPr>
          <p:cNvPr id="8" name="Google Shape;106;p11">
            <a:extLst>
              <a:ext uri="{FF2B5EF4-FFF2-40B4-BE49-F238E27FC236}">
                <a16:creationId xmlns:a16="http://schemas.microsoft.com/office/drawing/2014/main" id="{A9F4693E-DBCC-7173-4D1B-A03CBEA6874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4304" y="5775092"/>
            <a:ext cx="5445266" cy="4047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odity Trading Risk Management  - Consulting Toolkit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3737"/>
      </a:lt2>
      <a:accent1>
        <a:srgbClr val="01294F"/>
      </a:accent1>
      <a:accent2>
        <a:srgbClr val="1D2947"/>
      </a:accent2>
      <a:accent3>
        <a:srgbClr val="33252B"/>
      </a:accent3>
      <a:accent4>
        <a:srgbClr val="888888"/>
      </a:accent4>
      <a:accent5>
        <a:srgbClr val="FF3737"/>
      </a:accent5>
      <a:accent6>
        <a:srgbClr val="01294F"/>
      </a:accent6>
      <a:hlink>
        <a:srgbClr val="1D294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508</Words>
  <Application>Microsoft Office PowerPoint</Application>
  <PresentationFormat>Custom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Lexend Light</vt:lpstr>
      <vt:lpstr>Russo One</vt:lpstr>
      <vt:lpstr>Open Sans</vt:lpstr>
      <vt:lpstr>Commodity Trading Risk Management  - Consulting Toolkit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anjaly manikuttan</cp:lastModifiedBy>
  <cp:revision>1</cp:revision>
  <dcterms:modified xsi:type="dcterms:W3CDTF">2025-12-19T08:37:22Z</dcterms:modified>
</cp:coreProperties>
</file>